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rtl="1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ar-SA"/>
  <c:roundedCorners val="0"/>
  <c:chart>
    <c:title>
      <c:tx>
        <c:rich>
          <a:bodyPr/>
          <a:lstStyle/>
          <a:p>
            <a:pPr rtl="1"/>
            <a:r>
              <a:rPr lang="ar-SA"/>
              <a:t>الإيرادات حسب الربع</a:t>
            </a:r>
          </a:p>
        </c:rich>
      </c:tx>
    </c:title>
    <c:plotArea>
      <c:layout/>
      <c:barChart>
        <c:barDir val="col"/>
        <c:grouping val="clustered"/>
        <c:ser>
          <c:idx val="0"/>
          <c:order val="0"/>
          <c:tx>
            <c:strRef>
              <c:f>ورقة1!$A$1</c:f>
            </c:strRef>
          </c:tx>
        </c:ser>
      </c:barChart>
    </c:plotArea>
  </c:chart>
  <c:externalData r:id="rId1">
    <c:autoUpdate val="0"/>
  </c:externalData>
</c:chartSpace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Tree"/>
        <p:cNvGrpSpPr/>
        <p:nvPr/>
      </p:nvGrpSpPr>
      <p:sp>
        <p:nvSpPr>
          <p:cNvPr id="2" name="Notes Placeholder 1"/>
          <p:cNvSpPr/>
          <p:nvPr>
            <p:ph type="body" idx="1"/>
          </p:nvPr>
        </p:nvSpPr>
        <p:spPr/>
        <p:txBody>
          <a:bodyPr/>
          <a:lstStyle/>
          <a:p>
            <a:pPr rtl="1"/>
            <a:r>
              <a:rPr lang="ar-SA"/>
              <a:t>ملاحظات المتحدث: راجع الأرقام قبل العرض.</a:t>
            </a:r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Shape Tree"/>
        <p:cNvGrpSpPr/>
        <p:nvPr/>
      </p:nvGrpSpPr>
      <p:sp>
        <p:nvSpPr>
          <p:cNvPr id="2" name="Title Placeholder"/>
          <p:cNvSpPr/>
          <p:nvPr>
            <p:ph type="title"/>
          </p:nvPr>
        </p:nvSpPr>
        <p:spPr/>
        <p:txBody>
          <a:bodyPr/>
          <a:lstStyle>
            <a:lvl1pPr rtl="1" algn="r"/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Tree"/>
        <p:cNvGrpSpPr/>
        <p:nvPr/>
      </p:nv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rtl="1" algn="r">
        <a:defRPr lang="ar-SA">
          <a:cs typeface="Dubai"/>
        </a:defRPr>
      </a:lvl1pPr>
    </p:title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%D8%B5%D9%88%D8%B1%D8%A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!-- mc:Ignorable above names the p14 prefix as a STRING. Rename the prefix on serialisation and this document silently becomes invalid. -->
  <p:cSld>
    <p:spTree>
      <p:nvGrpSpPr>
        <p:cNvPr id="1" name="Shape Tree"/>
        <p:cNvGrpSpPr/>
        <p:nvPr/>
      </p:nvGrpSpPr>
      <p:sp>
        <p:nvSpPr>
          <p:cNvPr id="2" name="Title 1"/>
          <p:cNvSpPr/>
          <p:nvPr>
            <p:ph type="title"/>
          </p:nvPr>
        </p:nvSpPr>
        <p:spPr/>
        <p:txBody>
          <a:bodyPr/>
          <a:lstStyle/>
          <a:p>
            <a:pPr rtl="0" algn="l"/>
            <a:r>
              <a:rPr lang="en-US" dirty="0"/>
              <a:t>ارتفع الأداء بنسبة 25% في Q4 2026.</a:t>
            </a:r>
          </a:p>
        </p:txBody>
      </p:sp>
      <mc:AlternateContent xmlns:a14="http://schemas.microsoft.com/office/drawing/2010/main">
        <mc:Choice Requires="a14">
          <p:graphicFrame>
            <p:nvGraphicFramePr>
              <p:cNvPr id="3" name="Chart 2"/>
              <p:cNvGraphicFramePr/>
              <p:nvPr/>
            </p:nvGraphicFramePr>
            <p:xfrm>
              <a:off x="838200" y="1825625"/>
              <a:ext cx="10515600" cy="435133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"/>
              </a:graphicData>
            </a:graphic>
          </p:graphicFrame>
        </mc:Choice>
        <mc:Fallback>
          <p:sp>
            <p:nvSpPr>
              <p:cNvPr id="4" name="Chart Fallback"/>
              <p:cNvSpPr/>
              <p:nvPr/>
            </p:nvSpPr>
            <p:spPr/>
            <p:txBody>
              <a:bodyPr/>
              <a:lstStyle/>
              <a:p>
                <a:r>
                  <a:t>رسم بياني</a:t>
                </a:r>
              </a:p>
            </p:txBody>
          </p:sp>
        </mc:Fallback>
      </mc:AlternateContent>
      <p:sp>
        <p:nvSpPr>
          <p:cNvPr id="5" name="Body 3"/>
          <p:cNvSpPr/>
          <p:nvPr>
            <p:ph type="body" idx="1"/>
          </p:nvPr>
        </p:nvSpPr>
        <p:spPr/>
        <p:txBody>
          <a:bodyPr rtlCol="1"/>
          <a:lstStyle/>
          <a:p>
            <a:r>
              <a:rPr lang="en-US"/>
              <a:t>• بند أول‏</a:t>
            </a:r>
          </a:p>
        </p:txBody>
      </p:sp>
    </p:spTree>
  </p:cSld>
  <?mso-application progid="PowerPoint.Slide"?>
  <p:clrMapOvr>
    <a:masterClrMapping/>
  </p:clrMapOvr>
</p:sld>
</file>

<file path=ppt/theme/theme1.xml><?xml version="1.0" encoding="utf-8"?>
<a:theme xmlns:a="http://schemas.openxmlformats.org/drawingml/2006/main" name="Office">
  <a:themeElements>
    <a:fontScheme name="Office">
      <a:majorFont>
        <a:latin typeface="Calibri Light"/>
        <a:cs typeface="Dubai"/>
      </a:majorFont>
      <a:minorFont>
        <a:latin typeface="Calibri"/>
        <a:cs typeface="Dubai"/>
      </a:minorFont>
    </a:fontScheme>
  </a:themeElements>
</a:theme>
</file>

<file path=docProps/app.xml><?xml version="1.0" encoding="utf-8"?>
<Properties xmlns="http://schemas.openxmlformats.org/officeDocument/2006/extended-properti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عرض تجريبي</dc:title>
  <dc:creator>mirsam</dc:creator>
  <dcterms:created xsi:type="dcterms:W3CDTF">2026-09-02T08:15:00Z</dcterms:created>
</cp:coreProperties>
</file>