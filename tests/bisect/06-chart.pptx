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ar-SA"/>
  <c:roundedCorners val="0"/>
  <c:chart>
    <c:title>
      <c:tx>
        <c:rich>
          <a:bodyPr/>
          <a:lstStyle/>
          <a:p>
            <a:pPr rtl="1"/>
            <a:r>
              <a:rPr lang="ar-SA"/>
              <a:t>الإيرادات حسب الربع</a:t>
            </a:r>
          </a:p>
        </c:rich>
      </c:tx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ورقة1!$A$1</c:f>
              <c:strCache>
                <c:ptCount val="1"/>
                <c:pt idx="0">
                  <c:v>الإيرادات</c:v>
                </c:pt>
              </c:strCache>
            </c:strRef>
          </c:tx>
          <c:cat>
            <c:strRef>
              <c:f>ورقة1!$A$2:$A$5</c:f>
              <c:strCache>
                <c:ptCount val="4"/>
                <c:pt idx="0">
                  <c:v>الربع الأول</c:v>
                </c:pt>
                <c:pt idx="1">
                  <c:v>الربع الثاني</c:v>
                </c:pt>
                <c:pt idx="2">
                  <c:v>الربع الثالث</c:v>
                </c:pt>
                <c:pt idx="3">
                  <c:v>الربع الرابع</c:v>
                </c:pt>
              </c:strCache>
            </c:strRef>
          </c:cat>
          <c:val>
            <c:numRef>
              <c:f>ورقة1!$B$2:$B$5</c:f>
              <c:numCache>
                <c:formatCode>General</c:formatCode>
                <c:ptCount val="4"/>
                <c:pt idx="0">
                  <c:v>18</c:v>
                </c:pt>
                <c:pt idx="1">
                  <c:v>21</c:v>
                </c:pt>
                <c:pt idx="2">
                  <c:v>23</c:v>
                </c:pt>
                <c:pt idx="3">
                  <c:v>25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rtlCol="1"/>
          <a:lstStyle/>
          <a:p>
            <a:pPr rtl="1" algn="r"/>
            <a:r>
              <a:rPr lang="ar-SA">
                <a:cs typeface="Dubai"/>
              </a:rPr>
              <a:t>ارتفع الأداء بنسبة 25% في Q4 2026.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3300000"/>
          <a:ext cx="105156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